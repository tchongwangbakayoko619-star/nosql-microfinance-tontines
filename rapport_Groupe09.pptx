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88"/>
                </a:solidFill>
              </a:defRPr>
            </a:pPr>
            <a:r>
              <a:t>ÉVALUATION FINALE — PROJETS NoSQL</a:t>
            </a:r>
          </a:p>
          <a:p>
            <a:pPr>
              <a:spcBef>
                <a:spcPts val="1000"/>
              </a:spcBef>
              <a:defRPr sz="3200" b="1">
                <a:solidFill>
                  <a:srgbClr val="FFFFFF"/>
                </a:solidFill>
              </a:defRPr>
            </a:pPr>
            <a:r>
              <a:t>Projet 9 : Microfinance et Tontines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</a:defRPr>
            </a:pPr>
            <a:r>
              <a:t>Matière : Du SQL au NoSQL (bases de données, Big Data, MongoDB et Python)</a:t>
            </a:r>
          </a:p>
          <a:p>
            <a:pPr>
              <a:spcBef>
                <a:spcPts val="500"/>
              </a:spcBef>
              <a:defRPr sz="1400" b="1">
                <a:solidFill>
                  <a:srgbClr val="CBD5E1"/>
                </a:solidFill>
              </a:defRPr>
            </a:pPr>
            <a:r>
              <a:t>Enseignant : FOTSO T. Valdez 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10362895" cy="2560320"/>
          </a:xfrm>
          <a:prstGeom prst="roundRect">
            <a:avLst/>
          </a:prstGeom>
          <a:solidFill>
            <a:srgbClr val="172A54"/>
          </a:solidFill>
          <a:ln>
            <a:solidFill>
              <a:srgbClr val="284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09688"/>
                </a:solidFill>
              </a:defRPr>
            </a:pPr>
            <a:r>
              <a:t>Membres du Groupe :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Nom &amp; Prénom 1 (Matricule 1) — Rôle : Chef de Projet / Modélisation &amp; CRUD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Nom &amp; Prénom 2 (Matricule 2) — Rôle : Développeur Python / Agrégations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Nom &amp; Prénom 3 (Matricule 3) — Rôle : Gestion des Données &amp; Indexation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Nom &amp; Prénom 4 (Matricule 4) — Rôle : Interface Graphique &amp; Exports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Contexte &amp; Problématique Métier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📌 Le Contexte de la Microfinance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Un établissement de microfinance accompagne ses membres à travers deux piliers majeurs : le crédit bancaire classique et les tontines traditionnelles.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Les membres disposent d'un ou plusieurs comptes (épargne, courant), contractent des prêts amortissables sur plusieurs mois et participent à des tontines locales.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Défi métier : Assurer la gestion simultanée des transactions financières, du suivi des remboursements d'échéances et des cagnottes de tontines sans incohérence.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💡 Pourquoi NoSQL &amp; MongoDB ?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Flexibilité des structures : Imbrication naturelle des sous-documents (échéanciers de prêts, tours de tontines, cotisations) au sein d'un document unique.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Scalabilité &amp; Haute Disponibilité : Gestion volumétrique importante (des milliers de transactions) et agrégations analytiques complexes en temps réel.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Atomicité des virements : Utilisation des transactions multi-documents ACID MongoDB pour éviter toute perte de fonds lors des virements inter-comptes.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Objectifs du Projet &amp; Fonctionnalités Clés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Bef>
                <a:spcPts val="600"/>
              </a:spcBef>
              <a:defRPr sz="1400" b="1">
                <a:solidFill>
                  <a:srgbClr val="0F2043"/>
                </a:solidFill>
              </a:defRPr>
            </a:pPr>
            <a:r>
              <a:t>✔ Modélisation &amp; Choix d'architecture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Traduire les entités métiers (membres, comptes, transactions, prêts, tontines) en collections MongoDB adaptées, en justifiant chaque choix d'imbrication ou de référence.</a:t>
            </a:r>
          </a:p>
          <a:p>
            <a:pPr>
              <a:spcBef>
                <a:spcPts val="600"/>
              </a:spcBef>
              <a:defRPr sz="1400" b="1">
                <a:solidFill>
                  <a:srgbClr val="0F2043"/>
                </a:solidFill>
              </a:defRPr>
            </a:pPr>
            <a:r>
              <a:t>✔ Génération de Données Réalistes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Générer un jeu de données volumineux et cohérent (160+ membres, 250+ comptes, 3200+ transactions, 100+ prêts avec échéancier, 12 tontines).</a:t>
            </a:r>
          </a:p>
          <a:p>
            <a:pPr>
              <a:spcBef>
                <a:spcPts val="600"/>
              </a:spcBef>
              <a:defRPr sz="1400" b="1">
                <a:solidFill>
                  <a:srgbClr val="0F2043"/>
                </a:solidFill>
              </a:defRPr>
            </a:pPr>
            <a:r>
              <a:t>✔ Opérations CRUD &amp; Transactions ACID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Implémenter les règles métiers avec validation stricte, transactions multi-documents pour les virements et archivage automatique des prêts soldés.</a:t>
            </a:r>
          </a:p>
          <a:p>
            <a:pPr>
              <a:spcBef>
                <a:spcPts val="600"/>
              </a:spcBef>
              <a:defRPr sz="1400" b="1">
                <a:solidFill>
                  <a:srgbClr val="0F2043"/>
                </a:solidFill>
              </a:defRPr>
            </a:pPr>
            <a:r>
              <a:t>✔ Agrégations Analytiques Advanced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Concevoir 5 pipelines d'agrégation ($match, $lookup, $unwind, $group) pour produire des statistiques décisionnelles en temps réel.</a:t>
            </a:r>
          </a:p>
          <a:p>
            <a:pPr>
              <a:spcBef>
                <a:spcPts val="600"/>
              </a:spcBef>
              <a:defRPr sz="1400" b="1">
                <a:solidFill>
                  <a:srgbClr val="0F2043"/>
                </a:solidFill>
              </a:defRPr>
            </a:pPr>
            <a:r>
              <a:t>✔ Optimisation &amp; Conformité des Livrables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Indexer les clés stratégiques, mesurer le gain de performance via explain, et fournir tous les exports JSON/CSV conformes.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Modélisation NoSQL : Schéma des Collections &amp; Liens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🗂 Architecture des 5 Collections Principal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membres : Clé prim. : numero (MBR-xxxx). Contient l'identité, contact, profession, ville.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comptes : Clé prim. : numero (CPT-xxxxx). Référence membre_numero -&gt; membres.numero.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transactions : Clé prim. : transaction_id. Référence compte_numero -&gt; comptes.numero.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prets : Clé prim. : code_pret. Référence membre_numero. Imbrique l'échéancier (liste de sous-documents).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tontines : Clé prim. : code_tontine. Contient membres (liste), ordre_benefice, et tours (sous-documents).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🎯 Principes de Conception : Imbrication vs Référence</a:t>
            </a:r>
          </a:p>
          <a:p>
            <a:pPr>
              <a:spcBef>
                <a:spcPts val="600"/>
              </a:spcBef>
              <a:defRPr sz="1200" b="1">
                <a:solidFill>
                  <a:srgbClr val="009688"/>
                </a:solidFill>
              </a:defRPr>
            </a:pPr>
            <a:r>
              <a:t>✔ Référence (1-à-Plusieurs Élevé)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Les transactions sont séparées des comptes car une collection de transactions grossit indéfiniment. Imbriquer des milliers de transactions dépasserait la limite de 16 Mo par document MongoDB.</a:t>
            </a:r>
          </a:p>
          <a:p>
            <a:pPr>
              <a:spcBef>
                <a:spcPts val="600"/>
              </a:spcBef>
              <a:defRPr sz="1200" b="1">
                <a:solidFill>
                  <a:srgbClr val="009688"/>
                </a:solidFill>
              </a:defRPr>
            </a:pPr>
            <a:r>
              <a:t>✔ Imbrication (1-à-Peu Borné)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L'échéancier d’un prêt (3 à 24 mensualités) et les cotisations de tontines sont imbriqués sous forme de tableaux de sous-documents car leur taille est strictement limitée et ils sont toujours consultés avec le document parent.</a:t>
            </a:r>
          </a:p>
          <a:p>
            <a:pPr>
              <a:spcBef>
                <a:spcPts val="600"/>
              </a:spcBef>
              <a:defRPr sz="1200" b="1">
                <a:solidFill>
                  <a:srgbClr val="009688"/>
                </a:solidFill>
              </a:defRPr>
            </a:pPr>
            <a:r>
              <a:t>✔ Codes Métiers Lisibles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Utilisation de identifiants lisibles (MBR-0001, CPT-00001) indexés uniques pour faciliter les requêtes de démonstration et les jointures $lookup.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Structure des Documents : Membres, Comptes &amp; Transactions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📄 Collection: membres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{</a:t>
            </a:r>
            <a:br/>
            <a:r>
              <a:t>  "_id": ObjectId("..."),</a:t>
            </a:r>
            <a:br/>
            <a:r>
              <a:t>  "numero": "MBR-0001",</a:t>
            </a:r>
            <a:br/>
            <a:r>
              <a:t>  "nom": "Kengne Jean",</a:t>
            </a:r>
            <a:br/>
            <a:r>
              <a:t>  "telephone": "+237698259335",</a:t>
            </a:r>
            <a:br/>
            <a:r>
              <a:t>  "profession": "Médecin",</a:t>
            </a:r>
            <a:br/>
            <a:r>
              <a:t>  "ville": "Yaoundé",</a:t>
            </a:r>
            <a:br/>
            <a:r>
              <a:t>  "date_adhesion": ISODate("2021-04-12"),</a:t>
            </a:r>
            <a:br/>
            <a:r>
              <a:t>  "piece_identite": "CNI-13356886"</a:t>
            </a:r>
            <a:br/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📄 Collection: comptes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{</a:t>
            </a:r>
            <a:br/>
            <a:r>
              <a:t>  "_id": ObjectId("..."),</a:t>
            </a:r>
            <a:br/>
            <a:r>
              <a:t>  "numero": "CPT-00001",</a:t>
            </a:r>
            <a:br/>
            <a:r>
              <a:t>  "membre_numero": "MBR-0001",</a:t>
            </a:r>
            <a:br/>
            <a:r>
              <a:t>  "type": "épargne",</a:t>
            </a:r>
            <a:br/>
            <a:r>
              <a:t>  "solde": 254000.50,</a:t>
            </a:r>
            <a:br/>
            <a:r>
              <a:t>  "date_ouverture": ISODate("2021-04-15")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📄 Collection: transactions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{</a:t>
            </a:r>
            <a:br/>
            <a:r>
              <a:t>  "_id": ObjectId("..."),</a:t>
            </a:r>
            <a:br/>
            <a:r>
              <a:t>  "transaction_id": "TXN-0000042",</a:t>
            </a:r>
            <a:br/>
            <a:r>
              <a:t>  "compte_numero": "CPT-00001",</a:t>
            </a:r>
            <a:br/>
            <a:r>
              <a:t>  "type": "dépôt",</a:t>
            </a:r>
            <a:br/>
            <a:r>
              <a:t>  "montant": 50000.0,</a:t>
            </a:r>
            <a:br/>
            <a:r>
              <a:t>  "date": ISODate("2025-01-10"),</a:t>
            </a:r>
            <a:br/>
            <a:r>
              <a:t>  "canal": "agence"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Structure des Documents : Prêts &amp; Tontines (Sous-documents)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📄 Collection: prets (Échéancier Imbriqué)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{</a:t>
            </a:r>
            <a:br/>
            <a:r>
              <a:t>  "code_pret": "PRT-0014",</a:t>
            </a:r>
            <a:br/>
            <a:r>
              <a:t>  "membre_numero": "MBR-0006",</a:t>
            </a:r>
            <a:br/>
            <a:r>
              <a:t>  "montant": 1980544.16,</a:t>
            </a:r>
            <a:br/>
            <a:r>
              <a:t>  "taux": 5.1,</a:t>
            </a:r>
            <a:br/>
            <a:r>
              <a:t>  "duree_mois": 18,</a:t>
            </a:r>
            <a:br/>
            <a:r>
              <a:t>  "date_octroi": ISODate("2024-04-17"),</a:t>
            </a:r>
            <a:br/>
            <a:r>
              <a:t>  "statut": "en cours",</a:t>
            </a:r>
            <a:br/>
            <a:r>
              <a:t>  "echeancier": [</a:t>
            </a:r>
            <a:br/>
            <a:r>
              <a:t>    {</a:t>
            </a:r>
            <a:br/>
            <a:r>
              <a:t>      "numero_echeance": 1,</a:t>
            </a:r>
            <a:br/>
            <a:r>
              <a:t>      "date_echeance": ISODate("2024-05-17"),</a:t>
            </a:r>
            <a:br/>
            <a:r>
              <a:t>      "montant_du": 110030.23,</a:t>
            </a:r>
            <a:br/>
            <a:r>
              <a:t>      "paye": true,</a:t>
            </a:r>
            <a:br/>
            <a:r>
              <a:t>      "date_paiement": ISODate("2024-05-15")</a:t>
            </a:r>
            <a:br/>
            <a:r>
              <a:t>    }, ...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📄 Collection: tontines (Tours Imbriqués)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{</a:t>
            </a:r>
            <a:br/>
            <a:r>
              <a:t>  "code_tontine": "TNT-001",</a:t>
            </a:r>
            <a:br/>
            <a:r>
              <a:t>  "nom": "Tontine Solidarité Douala",</a:t>
            </a:r>
            <a:br/>
            <a:r>
              <a:t>  "montant_cotisation": 25000.0,</a:t>
            </a:r>
            <a:br/>
            <a:r>
              <a:t>  "periodicite": "mensuelle",</a:t>
            </a:r>
            <a:br/>
            <a:r>
              <a:t>  "membres": ["MBR-0001", "MBR-0002", "MBR-0003"],</a:t>
            </a:r>
            <a:br/>
            <a:r>
              <a:t>  "ordre_benefice": ["MBR-0002", "MBR-0001", "MBR-0003"],</a:t>
            </a:r>
            <a:br/>
            <a:r>
              <a:t>  "tours": [</a:t>
            </a:r>
            <a:br/>
            <a:r>
              <a:t>    {</a:t>
            </a:r>
            <a:br/>
            <a:r>
              <a:t>      "numero_tour": 1,</a:t>
            </a:r>
            <a:br/>
            <a:r>
              <a:t>      "date": ISODate("2025-01-05"),</a:t>
            </a:r>
            <a:br/>
            <a:r>
              <a:t>      "beneficiaire": "MBR-0002",</a:t>
            </a:r>
            <a:br/>
            <a:r>
              <a:t>      "cotisations_recues": [</a:t>
            </a:r>
            <a:br/>
            <a:r>
              <a:t>        {"membre_numero": "MBR-0001", "montant": 25000.0, "date": ISODate("2025-01-04")},</a:t>
            </a:r>
            <a:br/>
            <a:r>
              <a:t>        {"membre_numero": "MBR-0002", "montant": 25000.0, "date": ISODate("2025-01-05")}</a:t>
            </a:r>
            <a:br/>
            <a:r>
              <a:t>      ]</a:t>
            </a:r>
            <a:br/>
            <a:r>
              <a:t>    }</a:t>
            </a:r>
            <a:br/>
            <a:r>
              <a:t>  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Génération du Jeu de Données Réaliste (generer_donnees.py)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📊 Volumétrie Générée &amp; Reproductibilité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Reproductibilité Stricte : Utilisation de `random.seed(42)` garantissant un jeu de données identique à chaque exécution du script.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membres : 160 documents insérés (Exigence minimum : &gt;= 150) avec noms, professions et villes réelles du Cameroun.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comptes : 250 documents insérés (Exigence minimum : &gt;= 200) distribués entre comptes épargne et courant.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transactions : 3 200 documents insérés (Exigence minimum : &gt;= 3 000) couvrant dépôts, retraits, virements et remboursements.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prets : 100 prêts insérés (Exigence minimum : &gt;= 80) générant plus de 1 200 sous-documents d'échéances.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tontines : 12 tontines insérées (Exigence minimum : &gt;= 10) avec listes de membres et historiques des tours.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📷 Capture MongoDB Compass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Affichage des 5 collections et du nombre total de documents insérés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Opérations CRUD : Insertion &amp; Validation (INSERT)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📝 Logique de Création &amp; Validation Stricte</a:t>
            </a:r>
          </a:p>
          <a:p>
            <a:pPr>
              <a:spcBef>
                <a:spcPts val="600"/>
              </a:spcBef>
              <a:defRPr sz="1100" b="1">
                <a:solidFill>
                  <a:srgbClr val="009688"/>
                </a:solidFill>
              </a:defRPr>
            </a:pPr>
            <a:r>
              <a:t>• Génération Automatique de Codes 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Fonction `generer_code_auto` dans `utils.py` pour générer automatiquement les séquences MBR-xxxx, CPT-xxxxx, PRT-xxxx et TNT-xxx si le champ est omis.</a:t>
            </a:r>
          </a:p>
          <a:p>
            <a:pPr>
              <a:spcBef>
                <a:spcPts val="600"/>
              </a:spcBef>
              <a:defRPr sz="1100" b="1">
                <a:solidFill>
                  <a:srgbClr val="009688"/>
                </a:solidFill>
              </a:defRPr>
            </a:pPr>
            <a:r>
              <a:t>• Module de Validation (validators.py) 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Contrôle avant insertion : format de téléphone (+237), vérification de l'existence du membre propriétaire, positivité du solde et des montants.</a:t>
            </a:r>
          </a:p>
          <a:p>
            <a:pPr>
              <a:spcBef>
                <a:spcPts val="600"/>
              </a:spcBef>
              <a:defRPr sz="1100" b="1">
                <a:solidFill>
                  <a:srgbClr val="009688"/>
                </a:solidFill>
              </a:defRPr>
            </a:pPr>
            <a:r>
              <a:t>• Gestion des Doublons 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Interception systématique des erreurs `DuplicateKeyError` pour garantir l'unicité des clés métiers.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📷 Capture de Code &amp; Résultat INSERT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Code Python de create_membre / create_compte et résultat de l'exécution dans le terminal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Opérations CRUD : Interrogation &amp; Lecteurs (FIND)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🔍 Opérations de Lecture Implémentées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Comptes et solde d'un membre : Recherche des comptes rattachés à un membre_numero donné et calcul du solde cumulé.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Relevé de transactions filtré : Extraction des transactions d'un compte sur une période temporelle donnée avec tri chronologique inverse.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Échéances impayées à ce jour : Recherche via $unwind / find dans les sous-documents d'échéances non payées dont la date est échue.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Tontines &amp; Prochain bénéficiaire : Consultation des tontines d'un membre et calcul dynamique du prochain membre dans l'ordre de bénéfice.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📷 Capture des Résultats FIND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Affichage du relevé de compte et de la liste des échéances impayées dans le terminal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Opérations CRUD : Mises à jour &amp; Transactions ACID (UPDATE)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🔄 Mises à jour Atomiques &amp; Virements ACID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Dépôts &amp; Retraits Sécurisés : Mise à jour du solde du compte avec vérification atomique de solde suffisant pour éviter les découverts interdits.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Virement Inter-comptes ACID : Utilisation de `with client.start_session() as s: with s.start_transaction():` pour exécuter le débit du compte source et le crédit du compte cible de manière atomique.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Paiement d’Échéance &amp; Cotisation : Utilisation de l’opérateur positionnel MongoDB `$set` sur `echeancier.$.paye` et `$push` pour ajouter la cotisation dans le tour de tontine.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📷 Capture de Code Virement ACID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Code Python de la transaction ACID multi-documents et logs de confirmation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Opérations CRUD : Clôture &amp; Archivage (DELETE / ARCHIVE)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📦 Stratégie de Clôture &amp; Archivage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Clôture de Compte à Solde Nul : Seuls les comptes ayant un solde exact de 0.0 FCFA peuvent être supprimés de la collection `comptes` pour des raisons de conformité.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Principe d'Archivage (Chapitre 2) : Dans le secteur financier, les données ne sont pas détruites mais archivées.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Fonction `archiver_prets_soldes` : 1. Sélection des prêts avec statut 'soldé'.</a:t>
            </a:r>
            <a:br/>
            <a:r>
              <a:t>2. Ajout du champ `date_archivage = datetime.now()`.</a:t>
            </a:r>
            <a:br/>
            <a:r>
              <a:t>3. Insertion dans `prets_archives`.</a:t>
            </a:r>
            <a:br/>
            <a:r>
              <a:t>4. Suppression sécurisée de la collection principale `prets` via `delete_many`.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📷 Capture Code &amp; Résultat Archivage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Fonction archiver_prets_soldes et message terminal confirmant le transfert vers prets_archives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Synthèse des Fonctionnalités CRUD Implémentées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Bef>
                <a:spcPts val="800"/>
              </a:spcBef>
              <a:defRPr sz="1400" b="1">
                <a:solidFill>
                  <a:srgbClr val="0F2043"/>
                </a:solidFill>
              </a:defRPr>
            </a:pPr>
            <a:r>
              <a:t>▪ Opérations CREATE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Fonctions Python : create_membre(), create_compte(), create_transaction(), create_pret(), create_tontine()</a:t>
            </a:r>
          </a:p>
          <a:p>
            <a:pPr>
              <a:spcBef>
                <a:spcPts val="800"/>
              </a:spcBef>
              <a:defRPr sz="1400" b="1">
                <a:solidFill>
                  <a:srgbClr val="0F2043"/>
                </a:solidFill>
              </a:defRPr>
            </a:pPr>
            <a:r>
              <a:t>▪ Opérations READ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Fonctions Python : obtenir_comptes_membre(), obtenir_releve_transactions(), obtenir_echeances_impayees(), obtenir_tontines_membre()</a:t>
            </a:r>
          </a:p>
          <a:p>
            <a:pPr>
              <a:spcBef>
                <a:spcPts val="800"/>
              </a:spcBef>
              <a:defRPr sz="1400" b="1">
                <a:solidFill>
                  <a:srgbClr val="0F2043"/>
                </a:solidFill>
              </a:defRPr>
            </a:pPr>
            <a:r>
              <a:t>▪ Opérations UPDATE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Fonctions Python : deposer_argent(), retirer_argent(), virement_inter_comptes() [Transaction ACID], payer_echeance_pret(), cotiser_tontine()</a:t>
            </a:r>
          </a:p>
          <a:p>
            <a:pPr>
              <a:spcBef>
                <a:spcPts val="800"/>
              </a:spcBef>
              <a:defRPr sz="1400" b="1">
                <a:solidFill>
                  <a:srgbClr val="0F2043"/>
                </a:solidFill>
              </a:defRPr>
            </a:pPr>
            <a:r>
              <a:t>▪ Opérations DELETE / ARCHIVE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Fonctions Python : cloturer_compte_solde_nul(), archiver_prets_soldes() -&gt; prets_archives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Agrégation 1 : Encours Total des Prêts par Ville &amp; Profession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📊 Pipeline &amp; Analyse Métier ($lookup &amp; $unwind)</a:t>
            </a:r>
          </a:p>
          <a:p>
            <a:pPr>
              <a:spcBef>
                <a:spcPts val="600"/>
              </a:spcBef>
              <a:defRPr sz="1100" b="1">
                <a:solidFill>
                  <a:srgbClr val="009688"/>
                </a:solidFill>
              </a:defRPr>
            </a:pPr>
            <a:r>
              <a:t>• Pipeline MongoDB 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1. `$match` : Filtrage des prêts en cours ou en retard.</a:t>
            </a:r>
            <a:br/>
            <a:r>
              <a:t>2. `$lookup` : Jointure entre `prets.membre_numero` et `membres.numero`.</a:t>
            </a:r>
            <a:br/>
            <a:r>
              <a:t>3. `$unwind` : Aplatissement de l'array `info_membre`.</a:t>
            </a:r>
            <a:br/>
            <a:r>
              <a:t>4. `$group` : Regroupement par ville et profession avec `$sum` des montants.</a:t>
            </a:r>
          </a:p>
          <a:p>
            <a:pPr>
              <a:spcBef>
                <a:spcPts val="600"/>
              </a:spcBef>
              <a:defRPr sz="1100" b="1">
                <a:solidFill>
                  <a:srgbClr val="009688"/>
                </a:solidFill>
              </a:defRPr>
            </a:pPr>
            <a:r>
              <a:t>• Interprétation des Résultats 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Permet à la direction des risques d'identifier la concentration du crédit. Exemple : Les commerçants de Douala et les agriculteurs de Bafoussam représentent le plus fort encours du portefeuille.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📷 Capture du Résultat Agrégation 1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Extrait JSON / Tableau des encours classés par ville et profession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Agrégation 2 : Taux de Remboursement à l'Échéance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📊 Pipeline sur Sous-documents ($unwind &amp; $cond)</a:t>
            </a:r>
          </a:p>
          <a:p>
            <a:pPr>
              <a:spcBef>
                <a:spcPts val="600"/>
              </a:spcBef>
              <a:defRPr sz="1100" b="1">
                <a:solidFill>
                  <a:srgbClr val="009688"/>
                </a:solidFill>
              </a:defRPr>
            </a:pPr>
            <a:r>
              <a:t>• Pipeline MongoDB 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1. `$unwind` : Dénormalisation du tableau `echeancier`.</a:t>
            </a:r>
            <a:br/>
            <a:r>
              <a:t>2. `$match` : Conservation des échéances dues (`date_echeance &lt;= maintenant`).</a:t>
            </a:r>
            <a:br/>
            <a:r>
              <a:t>3. `$group` : Calcul du nombre total d'échéances dues et payées via `$cond`.</a:t>
            </a:r>
            <a:br/>
            <a:r>
              <a:t>4. `$project` : Calcul du ratio exprimé en pourcentage.</a:t>
            </a:r>
          </a:p>
          <a:p>
            <a:pPr>
              <a:spcBef>
                <a:spcPts val="600"/>
              </a:spcBef>
              <a:defRPr sz="1100" b="1">
                <a:solidFill>
                  <a:srgbClr val="009688"/>
                </a:solidFill>
              </a:defRPr>
            </a:pPr>
            <a:r>
              <a:t>• Interprétation des Résultats 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Évalue la qualité du recouvrement global. Un taux supérieur à 85% atteste d'une bonne santé du portefeuille de crédits.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📷 Capture du Résultat Agrégation 2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Taux de remboursement global et montants totaux recouvrés vs dus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Agrégation 3 : Volume des Dépôts &amp; Retraits par Mois et Canal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📊 Analyse des Flux Financement ($dateToString &amp; $group)</a:t>
            </a:r>
          </a:p>
          <a:p>
            <a:pPr>
              <a:spcBef>
                <a:spcPts val="600"/>
              </a:spcBef>
              <a:defRPr sz="1100" b="1">
                <a:solidFill>
                  <a:srgbClr val="009688"/>
                </a:solidFill>
              </a:defRPr>
            </a:pPr>
            <a:r>
              <a:t>• Pipeline MongoDB 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1. `$match` : Filtrage sur les types 'dépôt' et 'retrait'.</a:t>
            </a:r>
            <a:br/>
            <a:r>
              <a:t>2. `$group` : Regroupement par année-mois (`$dateToString`), type de flux et canal (`agence` vs `mobile_money`).</a:t>
            </a:r>
            <a:br/>
            <a:r>
              <a:t>3. `$sort` : Tri chronologique par mois.</a:t>
            </a:r>
          </a:p>
          <a:p>
            <a:pPr>
              <a:spcBef>
                <a:spcPts val="600"/>
              </a:spcBef>
              <a:defRPr sz="1100" b="1">
                <a:solidFill>
                  <a:srgbClr val="009688"/>
                </a:solidFill>
              </a:defRPr>
            </a:pPr>
            <a:r>
              <a:t>• Interprétation des Résultats 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Révèle l'adoption du canal Mobile Money par rapport aux guichets physiques et aide à anticiper les besoins en liquidités des agences.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📷 Capture du Résultat Agrégation 3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Volume des flux par mois et répartition agence vs mobile money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Agrégations 4 &amp; 5 : Retards de Crédit &amp; Suivi des Tontines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⚠️ Agrégation 4: Membres en Retard (&gt; 30 jours)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Description : Filtre les échéances non payées dépassées de plus de 30 jours, joint les informations du membre via `$lookup` et calcule le montant impayé restant.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Utilisation Métier : Génération des relances contentieuses et identification des membres à restreindre pour de nouveaux prêts.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🤝 Agrégation 5: Taux de Cotisation des Tontines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Description : Extrait le dernier tour de chaque tontine, compare le nombre de cotisations perçues au nombre de membres inscrits.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• Utilisation Métier : Mesure l'assiduité des participants de tontine et identifie les défaillances de paiement avant l'attribution de la cagnotte.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Optimisation &amp; Performance : Indexation (indexes.py)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⚡ Stragétie d'Indexation &amp; Gain `explain`</a:t>
            </a:r>
          </a:p>
          <a:p>
            <a:pPr>
              <a:spcBef>
                <a:spcPts val="600"/>
              </a:spcBef>
              <a:defRPr sz="1100" b="1">
                <a:solidFill>
                  <a:srgbClr val="009688"/>
                </a:solidFill>
              </a:defRPr>
            </a:pPr>
            <a:r>
              <a:t>• Index Uniques Obligatoires 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`membres.numero`, `comptes.numero`, `prets.code_pret`, `tontines.code_tontine` (unicité et accès direct).</a:t>
            </a:r>
          </a:p>
          <a:p>
            <a:pPr>
              <a:spcBef>
                <a:spcPts val="600"/>
              </a:spcBef>
              <a:defRPr sz="1100" b="1">
                <a:solidFill>
                  <a:srgbClr val="009688"/>
                </a:solidFill>
              </a:defRPr>
            </a:pPr>
            <a:r>
              <a:t>• Index Composé Justifié 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`transactions (compte_numero: 1, date: -1)` pour accélérer l'affichage des relevés de compte sans tri en mémoire.</a:t>
            </a:r>
          </a:p>
          <a:p>
            <a:pPr>
              <a:spcBef>
                <a:spcPts val="600"/>
              </a:spcBef>
              <a:defRPr sz="1100" b="1">
                <a:solidFill>
                  <a:srgbClr val="009688"/>
                </a:solidFill>
              </a:defRPr>
            </a:pPr>
            <a:r>
              <a:t>• Index de Jointure ($lookup) 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`comptes.membre_numero`, `prets.membre_numero` et `tontines.membres`.</a:t>
            </a:r>
          </a:p>
          <a:p>
            <a:pPr>
              <a:spcBef>
                <a:spcPts val="600"/>
              </a:spcBef>
              <a:defRPr sz="1100" b="1">
                <a:solidFill>
                  <a:srgbClr val="009688"/>
                </a:solidFill>
              </a:defRPr>
            </a:pPr>
            <a:r>
              <a:t>• Preuve d'Efficacité (`explain()`) 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Passage d'un balayage de collection complet (`COLLSCAN`) à une recherche par index ciblée (`IXSCAN`), réduisant le temps d'exécution de plusieurs millisecondes à &lt; 1ms.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📷 Capture de `explain()` MongoDB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Affichage du winningPlan montrant IXSCAN et l'utilisation de l'index composé sur les transactions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Difficultés Rencontrées &amp; Solutions Apportées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Bef>
                <a:spcPts val="800"/>
              </a:spcBef>
              <a:defRPr sz="1300" b="1">
                <a:solidFill>
                  <a:srgbClr val="0F2043"/>
                </a:solidFill>
              </a:defRPr>
            </a:pPr>
            <a:r>
              <a:t>🚨 Gestion des Transactions Multi-documents en Local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Problème : Les transactions ACID MongoDB requièrent impérativement un ensemble de réplicas (Replica Set).</a:t>
            </a:r>
            <a:br/>
            <a:r>
              <a:t>Solution : Configuration d'un Replica Set local (`mongod --replSet rs0`) et gestion d'un secours propre en cas de serveur standalone.</a:t>
            </a:r>
          </a:p>
          <a:p>
            <a:pPr>
              <a:spcBef>
                <a:spcPts val="800"/>
              </a:spcBef>
              <a:defRPr sz="1300" b="1">
                <a:solidFill>
                  <a:srgbClr val="0F2043"/>
                </a:solidFill>
              </a:defRPr>
            </a:pPr>
            <a:r>
              <a:t>🚨 Calcul du Taux de Remboursement sur Sous-documents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Problème : Manipulation d'échéanciers de durées variables imbriqués dans les prêts.</a:t>
            </a:r>
            <a:br/>
            <a:r>
              <a:t>Solution : Utilisation combinée de `$unwind` pour décomposer les échéances et de `$cond` dans l'étape `$group`.</a:t>
            </a:r>
          </a:p>
          <a:p>
            <a:pPr>
              <a:spcBef>
                <a:spcPts val="800"/>
              </a:spcBef>
              <a:defRPr sz="1300" b="1">
                <a:solidFill>
                  <a:srgbClr val="0F2043"/>
                </a:solidFill>
              </a:defRPr>
            </a:pPr>
            <a:r>
              <a:t>🚨 Double Entrée Terminal &amp; Interface Graphique Tkinter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Problème : Proposer une application flexible à la fois pour la démonstration en ligne de commande et pour les utilisateurs finaux.</a:t>
            </a:r>
            <a:br/>
            <a:r>
              <a:t>Solution : Architecture modulaire dans `main.py` permettant un basculement fluide entre le mode console et l'IHM Tkinter.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Répartition du Travail au Sein du Groupe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Bef>
                <a:spcPts val="800"/>
              </a:spcBef>
              <a:defRPr sz="1300" b="1">
                <a:solidFill>
                  <a:srgbClr val="0F2043"/>
                </a:solidFill>
              </a:defRPr>
            </a:pPr>
            <a:r>
              <a:t>👤 Membre 1 (Chef de Projet)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Modélisation NoSQL des 5 collections, architecture du fichier config.py, écriture des fonctions CRUD de base (membres, comptes).</a:t>
            </a:r>
          </a:p>
          <a:p>
            <a:pPr>
              <a:spcBef>
                <a:spcPts val="800"/>
              </a:spcBef>
              <a:defRPr sz="1300" b="1">
                <a:solidFill>
                  <a:srgbClr val="0F2043"/>
                </a:solidFill>
              </a:defRPr>
            </a:pPr>
            <a:r>
              <a:t>👤 Membre 2 (Développeur Backend)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Implémentation des transactions ACID de virement inter-comptes, développement du module de validation (validators.py) et archivage des prêts soldés.</a:t>
            </a:r>
          </a:p>
          <a:p>
            <a:pPr>
              <a:spcBef>
                <a:spcPts val="800"/>
              </a:spcBef>
              <a:defRPr sz="1300" b="1">
                <a:solidFill>
                  <a:srgbClr val="0F2043"/>
                </a:solidFill>
              </a:defRPr>
            </a:pPr>
            <a:r>
              <a:t>👤 Membre 3 (Spécialiste Data &amp; Index)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Écriture des 5 pipelines d'agrégation analytiques (agregations.py), conception et benchmark des index (indexes.py) via explain().</a:t>
            </a:r>
          </a:p>
          <a:p>
            <a:pPr>
              <a:spcBef>
                <a:spcPts val="800"/>
              </a:spcBef>
              <a:defRPr sz="1300" b="1">
                <a:solidFill>
                  <a:srgbClr val="0F2043"/>
                </a:solidFill>
              </a:defRPr>
            </a:pPr>
            <a:r>
              <a:t>👤 Membre 4 (IHM &amp; Livrables)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Développement de l'interface graphique Tkinter (main.py), scripts d'export JSON/CSV (exports.py), rédaction du rapport et enregistrement vidéo.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PROJET 9 - MICROFINANCE ET TONTINES</a:t>
            </a:r>
          </a:p>
          <a:p>
            <a:pPr>
              <a:defRPr sz="2200" b="1">
                <a:solidFill>
                  <a:srgbClr val="0F2043"/>
                </a:solidFill>
              </a:defRPr>
            </a:pPr>
            <a:r>
              <a:t>Conclusion, Limites &amp; Améliorations Possibles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🎯 Bilan du Projet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Application Python/MongoDB complète et pleinement fonctionnelle respectant 100% des exigences du sujet 9.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Modélisation équilibrée combinant imbrication de sous-documents et références clés métiers.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Garantie de l'atomicité bancaire grâce aux transactions multi-documents MongoDB.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0F2043"/>
                </a:solidFill>
              </a:defRPr>
            </a:pPr>
            <a:r>
              <a:t>🚀 Améliorations &amp; Pistes Bonus</a:t>
            </a:r>
          </a:p>
          <a:p>
            <a:pPr>
              <a:spcBef>
                <a:spcPts val="600"/>
              </a:spcBef>
              <a:defRPr sz="1100" b="1">
                <a:solidFill>
                  <a:srgbClr val="009688"/>
                </a:solidFill>
              </a:defRPr>
            </a:pPr>
            <a:r>
              <a:t>• Score de Fiabilité des Membres 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Calcul automatique d'un score de crédit (credit scoring) basé sur l'historique des remboursements à temps.</a:t>
            </a:r>
          </a:p>
          <a:p>
            <a:pPr>
              <a:spcBef>
                <a:spcPts val="600"/>
              </a:spcBef>
              <a:defRPr sz="1100" b="1">
                <a:solidFill>
                  <a:srgbClr val="009688"/>
                </a:solidFill>
              </a:defRPr>
            </a:pPr>
            <a:r>
              <a:t>• Échéancier à Mensualités Constantes 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Génération automatique d'échéanciers basés sur la formule d'amortissement bancaire classique.</a:t>
            </a:r>
          </a:p>
          <a:p>
            <a:pPr>
              <a:spcBef>
                <a:spcPts val="600"/>
              </a:spcBef>
              <a:defRPr sz="1100" b="1">
                <a:solidFill>
                  <a:srgbClr val="009688"/>
                </a:solidFill>
              </a:defRPr>
            </a:pPr>
            <a:r>
              <a:t>• API REST Web 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</a:defRPr>
            </a:pPr>
            <a:r>
              <a:t>Exposition des fonctions CRUD et agrégations via un framework Web moderne (FastAPI/Flask) et un dashboard React.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